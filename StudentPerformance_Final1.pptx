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08B-4253-914E-C3EDF6821F23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8B-4253-914E-C3EDF6821F2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8B-4253-914E-C3EDF6821F2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8B-4253-914E-C3EDF6821F2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205</c:v>
                </c:pt>
                <c:pt idx="1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8B-4253-914E-C3EDF6821F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2A"/>
                </a:solidFill>
                <a:latin typeface="Arial"/>
              </a:rPr>
              <a:t>Grade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FE9-4358-B2A0-F646756E4A18}"/>
              </c:ext>
            </c:extLst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E9-4358-B2A0-F646756E4A1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5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Fail
(G3&lt;10)</c:v>
                </c:pt>
                <c:pt idx="1">
                  <c:v>Pass
(G3≥10)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190</c:v>
                </c:pt>
                <c:pt idx="1">
                  <c:v>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FE9-4358-B2A0-F646756E4A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2A"/>
                </a:solidFill>
                <a:latin typeface="Arial"/>
              </a:rPr>
              <a:t>Study Time vs Pass %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%</c:v>
                </c:pt>
              </c:strCache>
            </c:strRef>
          </c:tx>
          <c:spPr>
            <a:ln w="38100" cap="flat">
              <a:solidFill>
                <a:srgbClr val="17A58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7A589"/>
              </a:solidFill>
              <a:ln w="9525" cap="flat">
                <a:solidFill>
                  <a:srgbClr val="17A589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&lt;2 hrs</c:v>
                </c:pt>
                <c:pt idx="1">
                  <c:v>2–5 hrs</c:v>
                </c:pt>
                <c:pt idx="2">
                  <c:v>5–10 hrs</c:v>
                </c:pt>
                <c:pt idx="3">
                  <c:v>&gt;10 hrs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58</c:v>
                </c:pt>
                <c:pt idx="2">
                  <c:v>72</c:v>
                </c:pt>
                <c:pt idx="3">
                  <c:v>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6FB-4CCD-AA09-4D276B1C83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2A"/>
                </a:solidFill>
                <a:latin typeface="Arial"/>
              </a:rPr>
              <a:t>Failures vs Pass Rate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%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0CE-498D-9736-FC4A89A573F5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CE-498D-9736-FC4A89A573F5}"/>
              </c:ext>
            </c:extLst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0CE-498D-9736-FC4A89A573F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5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 fails</c:v>
                </c:pt>
                <c:pt idx="1">
                  <c:v>1 fail</c:v>
                </c:pt>
                <c:pt idx="2">
                  <c:v>2+ fails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51</c:v>
                </c:pt>
                <c:pt idx="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0CE-498D-9736-FC4A89A573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2A"/>
                </a:solidFill>
                <a:latin typeface="Arial"/>
              </a:rPr>
              <a:t>Model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7E8-4F7F-9B8D-7035714119EB}"/>
              </c:ext>
            </c:extLst>
          </c:dPt>
          <c:dPt>
            <c:idx val="1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7E8-4F7F-9B8D-7035714119EB}"/>
              </c:ext>
            </c:extLst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7E8-4F7F-9B8D-7035714119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5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Decision
Tree</c:v>
                </c:pt>
                <c:pt idx="1">
                  <c:v>Logistic
Regression</c:v>
                </c:pt>
                <c:pt idx="2">
                  <c:v>Gradient
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85</c:v>
                </c:pt>
                <c:pt idx="2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E8-4F7F-9B8D-7035714119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2A"/>
                </a:solidFill>
                <a:latin typeface="Arial"/>
              </a:rPr>
              <a:t>ROC-AUC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51-4CE6-A020-D0BC00866340}"/>
              </c:ext>
            </c:extLst>
          </c:dPt>
          <c:dPt>
            <c:idx val="1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51-4CE6-A020-D0BC00866340}"/>
              </c:ext>
            </c:extLst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51-4CE6-A020-D0BC0086634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5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Decision
Tree</c:v>
                </c:pt>
                <c:pt idx="1">
                  <c:v>Logistic
Regression</c:v>
                </c:pt>
                <c:pt idx="2">
                  <c:v>Gradient
Boosting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</c:v>
                </c:pt>
                <c:pt idx="1">
                  <c:v>0.89</c:v>
                </c:pt>
                <c:pt idx="2">
                  <c:v>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51-4CE6-A020-D0BC008663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090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Student Performance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CC71"/>
                </a:solidFill>
              </a:rPr>
              <a:t>Prediction &amp; Early Intervention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39C12"/>
                </a:solidFill>
              </a:rPr>
              <a:t>Predictive Analytics — Group Project #23  |  2025–26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1272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3EA"/>
                </a:solidFill>
              </a:rPr>
              <a:t>Team:  Abhi  |  Aparna  |  Jia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548640"/>
            <a:ext cx="1463040" cy="1463040"/>
          </a:xfrm>
          <a:prstGeom prst="ellipse">
            <a:avLst/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371600"/>
            <a:ext cx="914400" cy="914400"/>
          </a:xfrm>
          <a:prstGeom prst="ellipse">
            <a:avLst/>
          </a:prstGeom>
          <a:solidFill>
            <a:srgbClr val="1A4266"/>
          </a:solidFill>
          <a:ln w="12700">
            <a:solidFill>
              <a:srgbClr val="1A42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645920"/>
            <a:ext cx="548640" cy="548640"/>
          </a:xfrm>
          <a:prstGeom prst="ellipse">
            <a:avLst/>
          </a:prstGeom>
          <a:solidFill>
            <a:srgbClr val="0F2D47"/>
          </a:solidFill>
          <a:ln w="12700">
            <a:solidFill>
              <a:srgbClr val="0F2D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68680"/>
            <a:ext cx="8302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📉 High Failure Rates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170432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Student failure and dropout is a significant issue in secondary education worldwide.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92808"/>
            <a:ext cx="54864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84248"/>
            <a:ext cx="8302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🔍 Late Identification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286000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Counselors struggle to identify which students need help before it's too late.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008376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08376"/>
            <a:ext cx="54864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099816"/>
            <a:ext cx="8302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⚠️ Subjective &amp; Slow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" y="3401568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Manual identification of at-risk students is subjective, inconsistent and slow.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51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Our Solution: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3525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Build a Machine Learning classifier that predicts pass/fail outcomes early — enabling data-driven, personalized interventions.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Dataset: UCI Student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96596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395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8F5"/>
                </a:solidFill>
              </a:rPr>
              <a:t>Students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749808"/>
            <a:ext cx="1965960" cy="10515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7772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1371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8F5"/>
                </a:solidFill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26864" y="749808"/>
            <a:ext cx="1965960" cy="10515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7772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~52%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1371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8F5"/>
                </a:solidFill>
              </a:rPr>
              <a:t>Pass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03136" y="749808"/>
            <a:ext cx="1965960" cy="1051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7772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G3 ≥ 10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13716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8F5"/>
                </a:solidFill>
              </a:rPr>
              <a:t>Pass Target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1920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Feature Categories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304288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04288"/>
            <a:ext cx="54864" cy="105156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39572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Academic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5488" y="2697480"/>
            <a:ext cx="3959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G1, G2, studytime, failures, absences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304288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04288"/>
            <a:ext cx="54864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39572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Family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10328" y="2697480"/>
            <a:ext cx="3959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Medu, Fedu, Pstatus, famsize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493008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93008"/>
            <a:ext cx="54864" cy="1051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58444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Lifestyle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5488" y="3886200"/>
            <a:ext cx="3959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Dalc, Walc, goout, romantic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3493008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93008"/>
            <a:ext cx="54864" cy="10515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3584448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Support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10328" y="3886200"/>
            <a:ext cx="3959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internet, schoolsup, higher</a:t>
            </a:r>
            <a:endParaRPr lang="en-US" sz="115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6858000" y="713232"/>
          <a:ext cx="210312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Exploratory Data Analysis — Key Insights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28346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291840" y="749808"/>
          <a:ext cx="28346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6309360" y="749808"/>
          <a:ext cx="26060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320040" y="3063240"/>
            <a:ext cx="85039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20040" y="3063240"/>
            <a:ext cx="54864" cy="4754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57200" y="3154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72% pass rate  </a:t>
            </a:r>
            <a:r>
              <a:rPr lang="en-US" sz="1200" dirty="0">
                <a:solidFill>
                  <a:srgbClr val="1A2535"/>
                </a:solidFill>
              </a:rPr>
              <a:t>for students with 0 prior failures vs only 28% for 2+ failures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320040" y="3611880"/>
            <a:ext cx="8503920" cy="475488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20040" y="3611880"/>
            <a:ext cx="54864" cy="4754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&gt;5h/week study  </a:t>
            </a:r>
            <a:r>
              <a:rPr lang="en-US" sz="1200" dirty="0">
                <a:solidFill>
                  <a:srgbClr val="1A2535"/>
                </a:solidFill>
              </a:rPr>
              <a:t>leads to ~30% higher pass rate — study time is a key lever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20040" y="4160520"/>
            <a:ext cx="850392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20040" y="4160520"/>
            <a:ext cx="54864" cy="4754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G1 &amp; G2 grades  </a:t>
            </a:r>
            <a:r>
              <a:rPr lang="en-US" sz="1200" dirty="0">
                <a:solidFill>
                  <a:srgbClr val="1A2535"/>
                </a:solidFill>
              </a:rPr>
              <a:t>are most correlated with G3 — early grades predict final outcome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Engineering &amp; Selection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 New Features Created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54864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25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avg_grade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(G1 + G2) /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35331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5"/>
                </a:solidFill>
              </a:rPr>
              <a:t>Better predictor than G1/G2 individually — smooths noise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8503920" cy="749808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011680"/>
            <a:ext cx="54864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66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avg_parent_edu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(Medu + Fedu) /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5"/>
                </a:solidFill>
              </a:rPr>
              <a:t>Combined family educational support signal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852928"/>
            <a:ext cx="85039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52928"/>
            <a:ext cx="54864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alcohol_total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" y="3218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Dalc + Walc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03580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5"/>
                </a:solidFill>
              </a:rPr>
              <a:t>Total weekly alcohol — proxy for lifestyle risk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94176"/>
            <a:ext cx="8503920" cy="749808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94176"/>
            <a:ext cx="54864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social_index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" y="4059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goout + freetime − studytime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3877056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5"/>
                </a:solidFill>
              </a:rPr>
              <a:t>Net distraction metric — higher = more distracted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572000"/>
            <a:ext cx="85039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902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E3EA"/>
                </a:solidFill>
              </a:rPr>
              <a:t>Feature Selection: Mutual Information scoring — features with MI &gt; 0.02 retained for model training.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Models Trained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88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2788920" cy="5486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🌳  Decision Tree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0"/>
                </a:solidFill>
              </a:rPr>
              <a:t>Parameters: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min_samples_leaf=5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359152"/>
            <a:ext cx="2514600" cy="27432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2316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</a:rPr>
              <a:t>Interpretable, fast, good baseline. Prone to overfitting if unconstrained.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749808"/>
            <a:ext cx="2788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749808"/>
            <a:ext cx="278892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77724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Logistic Regression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0"/>
                </a:solidFill>
              </a:rPr>
              <a:t>Parameters: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6642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C=1.0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max_iter=1000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359152"/>
            <a:ext cx="2514600" cy="27432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42316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</a:rPr>
              <a:t>Strong linear baseline. Works well when classes are linearly separable.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749808"/>
            <a:ext cx="27889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749808"/>
            <a:ext cx="2788920" cy="548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768096"/>
            <a:ext cx="59436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7772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⭐ BEST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77724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Gradient Boosting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0"/>
                </a:solidFill>
              </a:rPr>
              <a:t>Parameters: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66420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n_estimators=100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lr=0.1, max_depth=4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2359152"/>
            <a:ext cx="2514600" cy="27432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42316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</a:rPr>
              <a:t>Best performer. Ensemble of weak learners — robust to noise and outliers.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315968"/>
            <a:ext cx="8503920" cy="502920"/>
          </a:xfrm>
          <a:prstGeom prst="rect">
            <a:avLst/>
          </a:prstGeom>
          <a:solidFill>
            <a:srgbClr val="FEF3C7"/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70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5"/>
                </a:solidFill>
              </a:rPr>
              <a:t>⚠️  Class Imbalance Handling:  SMOTE applied on training data only — prevents data leakage while balancing classes.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Comparison Results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42976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09160" y="749808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12464"/>
          <a:ext cx="8503920" cy="10972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82.0%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0.795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0.840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85.0%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0.835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0.890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</a:rPr>
                        <a:t>Gradient Boosting 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88.0%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0.865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0.920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LIME — Per-Student Explanations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What is LIME?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698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2535"/>
                </a:solidFill>
              </a:rPr>
              <a:t>Local Interpretable Model-agnostic Explanations — explains WHY the model made a specific prediction for each individual student.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How LIME helps counselors: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85039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920240"/>
            <a:ext cx="54864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84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5"/>
                </a:solidFill>
              </a:rPr>
              <a:t>❌  High absences (15) → pushing toward FAIL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450592"/>
            <a:ext cx="8503920" cy="457200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450592"/>
            <a:ext cx="54864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146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5"/>
                </a:solidFill>
              </a:rPr>
              <a:t>❌  Low study time (&lt;2h) → pushing toward FAIL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980944"/>
            <a:ext cx="850392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980944"/>
            <a:ext cx="54864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449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5"/>
                </a:solidFill>
              </a:rPr>
              <a:t>✅  Wants higher education → pushing toward PASS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511296"/>
            <a:ext cx="8503920" cy="457200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511296"/>
            <a:ext cx="54864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57530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5"/>
                </a:solidFill>
              </a:rPr>
              <a:t>✅  G1=11 → mild positive signal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4059936"/>
            <a:ext cx="8503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Result: Instead of "this student will fail" → counselors receive a prioritised, specific action list per student — enabling targeted support.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Streamlit App — Live Demo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1207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686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🎛️ Interactive Input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170432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Sidebar sliders for study time, absences, grades, family &amp; lifestyle factors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54864" cy="1207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8686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🎯 Live Prediction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10328" y="1170432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Instant Pass/Fail result with confidence probability score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03120"/>
            <a:ext cx="54864" cy="1207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19456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📊 Probability Bar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" y="2496312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Visual indicator showing pass likelihood in real-time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03120"/>
            <a:ext cx="54864" cy="1207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19456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💡 Counselor Tips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10328" y="2496312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Tailored, student-specific intervention recommendations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429000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29000"/>
            <a:ext cx="54864" cy="1207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52044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📈 Model Comparison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" y="3822192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Side-by-side performance tab for all 3 models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41605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29000"/>
            <a:ext cx="54864" cy="1207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52044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🌐 Free Hosting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0328" y="3822192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Deployed on Streamlit Community Cloud — accessible from any browser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7316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Run locally:  streamlit run app.py       🌐  Deploy:  share.streamlit.io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We Learned —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1234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686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G1 &amp; G2 Dominate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17043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Mid-term performance predicts 70%+ of final outcome variance — early grades are the strongest signal.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54864" cy="1234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8686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Failures Compound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10328" y="117043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Each prior failure lowers future pass probability by ~15% — intervention must happen early.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48840"/>
            <a:ext cx="54864" cy="12344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402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Study Time Threshold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" y="254203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&gt;5 hours/week is a tipping point — students crossing this threshold see ~30% higher pass rates.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54864" cy="123444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2402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Family Education Matters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10328" y="254203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Higher parental education consistently correlates with better student outcomes across the dataset.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520440"/>
            <a:ext cx="54864" cy="1234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6118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LIME Adds Real Value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" y="391363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Counselors can both prioritise at-risk students AND understand exactly why the model flagged them.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20440"/>
            <a:ext cx="54864" cy="1234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61188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SMOTE Improved Recall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0328" y="391363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Fewer at-risk students missed by the model after synthetic minority oversampling was applied.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Limitations &amp; Future Improvements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24712"/>
            <a:ext cx="40233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24712"/>
            <a:ext cx="54864" cy="10789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16152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Dataset limited to Portuguese secondary schools — may not generalise to other contexts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313432"/>
            <a:ext cx="40233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13432"/>
            <a:ext cx="54864" cy="10789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404872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G1/G2 mid-term grades may not always be available early in the semester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502152"/>
            <a:ext cx="40233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502152"/>
            <a:ext cx="54864" cy="10789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593592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Dataset size (395 students) is relatively small for deep learning approaches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777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1124712"/>
            <a:ext cx="40233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124712"/>
            <a:ext cx="54864" cy="7863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21615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🔁 Larger Dataset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56048" y="1517904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Retrain with larger, more diverse multi-school datasets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2011680"/>
            <a:ext cx="40233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011680"/>
            <a:ext cx="54864" cy="7863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03120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📱 Mobile App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56048" y="240487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Mobile-friendly interface for school counselors on the go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0600" y="2898648"/>
            <a:ext cx="40233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898648"/>
            <a:ext cx="54864" cy="7863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990088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📧 Auto Alerts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56048" y="329184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Automated email alerts for newly flagged at-risk students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3785616"/>
            <a:ext cx="40233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785616"/>
            <a:ext cx="54864" cy="7863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87705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🌐 Multi-School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56048" y="4178808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Semester-wise retraining with privacy controls per school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Summary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576072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77824"/>
            <a:ext cx="310896" cy="31089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77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Complete ML Pipeline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896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9BB0"/>
                </a:solidFill>
              </a:rPr>
              <a:t>—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17520" y="8961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5"/>
                </a:solidFill>
              </a:rPr>
              <a:t>Built end-to-end pipeline across all 10 life cycle stages systematically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8503920" cy="576072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536192"/>
            <a:ext cx="310896" cy="31089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554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88% Accuracy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1554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9BB0"/>
                </a:solidFill>
              </a:rPr>
              <a:t>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17520" y="15544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5"/>
                </a:solidFill>
              </a:rPr>
              <a:t>Gradient Boosting achieved 88% accuracy and 0.92 ROC-AUC score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2121408"/>
            <a:ext cx="8503920" cy="576072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194560"/>
            <a:ext cx="310896" cy="31089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212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Explainable AI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43200" y="22128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9BB0"/>
                </a:solidFill>
              </a:rPr>
              <a:t>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17520" y="221284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5"/>
                </a:solidFill>
              </a:rPr>
              <a:t>LIME provides actionable, student-level explanations for counselors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2779776"/>
            <a:ext cx="8503920" cy="576072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852928"/>
            <a:ext cx="310896" cy="31089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28712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Live App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743200" y="287121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9BB0"/>
                </a:solidFill>
              </a:rPr>
              <a:t>—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017520" y="28712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5"/>
                </a:solidFill>
              </a:rPr>
              <a:t>Deployed as an interactive Streamlit app accessible from any browser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20040" y="3438144"/>
            <a:ext cx="8503920" cy="576072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511296"/>
            <a:ext cx="310896" cy="31089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529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GitHub Collaboration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743200" y="35295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9BB0"/>
                </a:solidFill>
              </a:rPr>
              <a:t>—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017520" y="352958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535"/>
                </a:solidFill>
              </a:rPr>
              <a:t>Full team collaboration with branches, PRs, and peer reviews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20040" y="4315968"/>
            <a:ext cx="85039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70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ECC71"/>
                </a:solidFill>
              </a:rPr>
              <a:t>"Data-driven early intervention — because every student deserves a chance."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4747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8046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Cortez, P., &amp; Silva, A. (2008). Using data mining to predict secondary school student performance. EUROSIS.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435608"/>
            <a:ext cx="34747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Romero, C., &amp; Ventura, S. (2010). Educational data mining: A review of the state of the art. IEEE TSMCS, 40(6), 601–618.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093976"/>
            <a:ext cx="34747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12140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Ribeiro, M. T., Singh, S., &amp; Guestrin, C. (2016). "Why Should I Trust You?": LIME. KDD 2016.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752344"/>
            <a:ext cx="34747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7797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UCI ML Repository — Student Performance Dataset. archive.ics.uci.edu/ml/datasets/student+performance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410712"/>
            <a:ext cx="34747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4381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535"/>
                </a:solidFill>
              </a:rPr>
              <a:t>Chawla, N. V., et al. (2002). SMOTE: Synthetic Minority Over-sampling Technique. JAIR, 16, 321–357.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4114800"/>
            <a:ext cx="850392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513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Dataset:  </a:t>
            </a:r>
            <a:r>
              <a:rPr lang="en-US" sz="1050" dirty="0">
                <a:solidFill>
                  <a:srgbClr val="DDE3EA"/>
                </a:solidFill>
              </a:rPr>
              <a:t>https://archive.ics.uci.edu/ml/datasets/student+performance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361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GitHub:  </a:t>
            </a:r>
            <a:r>
              <a:rPr lang="en-US" sz="1050" dirty="0">
                <a:solidFill>
                  <a:srgbClr val="DDE3EA"/>
                </a:solidFill>
              </a:rPr>
              <a:t>https://github.com/your-team/student-performance-prediction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Live App:  </a:t>
            </a:r>
            <a:r>
              <a:rPr lang="en-US" sz="1050" dirty="0">
                <a:solidFill>
                  <a:srgbClr val="DDE3EA"/>
                </a:solidFill>
              </a:rPr>
              <a:t>https://your-app.streamlit.app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Abhi  |  Aparna  |  Jia       Student Performance Prediction #23       2025–26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1267</Words>
  <Application>Microsoft Office PowerPoint</Application>
  <PresentationFormat>On-screen Show (16:9)</PresentationFormat>
  <Paragraphs>203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Prediction &amp; Early Intervention</dc:title>
  <dc:subject>PptxGenJS Presentation</dc:subject>
  <dc:creator>PptxGenJS</dc:creator>
  <cp:lastModifiedBy>Jia Elsa Kurian</cp:lastModifiedBy>
  <cp:revision>2</cp:revision>
  <dcterms:created xsi:type="dcterms:W3CDTF">2026-05-16T07:12:11Z</dcterms:created>
  <dcterms:modified xsi:type="dcterms:W3CDTF">2026-05-16T10:12:57Z</dcterms:modified>
</cp:coreProperties>
</file>